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4" r:id="rId1"/>
  </p:sldMasterIdLst>
  <p:notesMasterIdLst>
    <p:notesMasterId r:id="rId20"/>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7" r:id="rId15"/>
    <p:sldId id="270" r:id="rId16"/>
    <p:sldId id="272" r:id="rId17"/>
    <p:sldId id="273" r:id="rId18"/>
    <p:sldId id="274"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AE+HyLAIJlfmFTD/nuCzNooOYx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3924203ca447d27_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33924203ca447d27_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3924203ca447d27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g33924203ca447d27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4" name="Google Shape;74;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 name="Google Shape;80;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 name="Google Shape;9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 name="Google Shape;104;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 name="Google Shape;11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7" name="Google Shape;117;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0" name="Google Shape;13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6" name="Google Shape;136;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2" name="Google Shape;1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8" name="Google Shape;168;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50965983"/>
      </p:ext>
    </p:extLst>
  </p:cSld>
  <p:clrMapOvr>
    <a:masterClrMapping/>
  </p:clrMapOvr>
  <p:transition spd="slow">
    <p:cover/>
  </p:transition>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93635315"/>
      </p:ext>
    </p:extLst>
  </p:cSld>
  <p:clrMapOvr>
    <a:masterClrMapping/>
  </p:clrMapOvr>
  <p:transition spd="slow">
    <p:cover/>
  </p:transition>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54418651"/>
      </p:ext>
    </p:extLst>
  </p:cSld>
  <p:clrMapOvr>
    <a:masterClrMapping/>
  </p:clrMapOvr>
  <p:transition spd="slow">
    <p:cover/>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30749069"/>
      </p:ext>
    </p:extLst>
  </p:cSld>
  <p:clrMapOvr>
    <a:masterClrMapping/>
  </p:clrMapOvr>
  <p:transition spd="slow">
    <p:cover/>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50983147"/>
      </p:ext>
    </p:extLst>
  </p:cSld>
  <p:clrMapOvr>
    <a:masterClrMapping/>
  </p:clrMapOvr>
  <p:transition spd="slow">
    <p:cover/>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79330282"/>
      </p:ext>
    </p:extLst>
  </p:cSld>
  <p:clrMapOvr>
    <a:masterClrMapping/>
  </p:clrMapOvr>
  <p:transition spd="slow">
    <p:cover/>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23061559"/>
      </p:ext>
    </p:extLst>
  </p:cSld>
  <p:clrMapOvr>
    <a:masterClrMapping/>
  </p:clrMapOvr>
  <p:transition spd="slow">
    <p:cove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70DDF080-5E8C-48AD-84E5-6C08B304C14E}" type="datetimeFigureOut">
              <a:rPr lang="en-US" smtClean="0"/>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62625949"/>
      </p:ext>
    </p:extLst>
  </p:cSld>
  <p:clrMapOvr>
    <a:masterClrMapping/>
  </p:clrMapOvr>
  <p:transition spd="slow">
    <p:cover/>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60452246"/>
      </p:ext>
    </p:extLst>
  </p:cSld>
  <p:clrMapOvr>
    <a:masterClrMapping/>
  </p:clrMapOvr>
  <p:transition spd="slow">
    <p:cover/>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79247681"/>
      </p:ext>
    </p:extLst>
  </p:cSld>
  <p:clrMapOvr>
    <a:masterClrMapping/>
  </p:clrMapOvr>
  <p:transition spd="slow">
    <p:cover/>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284348195"/>
      </p:ext>
    </p:extLst>
  </p:cSld>
  <p:clrMapOvr>
    <a:masterClrMapping/>
  </p:clrMapOvr>
  <p:transition spd="slow">
    <p:cover/>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35189076"/>
      </p:ext>
    </p:extLst>
  </p:cSld>
  <p:clrMapOvr>
    <a:masterClrMapping/>
  </p:clrMapOvr>
  <p:transition spd="slow">
    <p:cover/>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259610579"/>
      </p:ext>
    </p:extLst>
  </p:cSld>
  <p:clrMapOvr>
    <a:masterClrMapping/>
  </p:clrMapOvr>
  <p:transition spd="slow">
    <p:cover/>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95264547"/>
      </p:ext>
    </p:extLst>
  </p:cSld>
  <p:clrMapOvr>
    <a:masterClrMapping/>
  </p:clrMapOvr>
  <p:transition spd="slow">
    <p:cover/>
  </p:transition>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0DDF080-5E8C-48AD-84E5-6C08B304C14E}" type="datetimeFigureOut">
              <a:rPr lang="en-US" smtClean="0"/>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50601664"/>
      </p:ext>
    </p:extLst>
  </p:cSld>
  <p:clrMapOvr>
    <a:masterClrMapping/>
  </p:clrMapOvr>
  <p:transition spd="slow">
    <p:cover/>
  </p:transition>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94651774"/>
      </p:ext>
    </p:extLst>
  </p:cSld>
  <p:clrMapOvr>
    <a:masterClrMapping/>
  </p:clrMapOvr>
  <p:transition spd="slow">
    <p:cover/>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8/7/2025</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8452350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ransition spd="slow">
    <p:cover/>
  </p:transition>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g33924203ca447d27_58"/>
          <p:cNvSpPr txBox="1"/>
          <p:nvPr/>
        </p:nvSpPr>
        <p:spPr>
          <a:xfrm>
            <a:off x="-567806" y="1261818"/>
            <a:ext cx="9902537" cy="604732"/>
          </a:xfrm>
          <a:prstGeom prst="rect">
            <a:avLst/>
          </a:prstGeom>
          <a:noFill/>
          <a:ln>
            <a:noFill/>
          </a:ln>
          <a:effectLst>
            <a:outerShdw blurRad="25400">
              <a:srgbClr val="000000">
                <a:alpha val="45098"/>
              </a:srgbClr>
            </a:outerShdw>
          </a:effectLst>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000000"/>
              </a:buClr>
              <a:buSzPts val="3000"/>
              <a:buFont typeface="Arial"/>
              <a:buNone/>
            </a:pPr>
            <a:r>
              <a:rPr lang="en-US" sz="3200" b="1" i="0" u="none" strike="noStrike" cap="none" dirty="0">
                <a:solidFill>
                  <a:srgbClr val="000000"/>
                </a:solidFill>
                <a:latin typeface="Arial"/>
                <a:ea typeface="Arial"/>
                <a:cs typeface="Arial"/>
                <a:sym typeface="Arial"/>
              </a:rPr>
              <a:t>FORGOTTEN KNOWLEDGE TRACKER</a:t>
            </a:r>
            <a:endParaRPr sz="3200" b="1" i="0" u="none" strike="noStrike" cap="none" dirty="0">
              <a:solidFill>
                <a:srgbClr val="000000"/>
              </a:solidFill>
              <a:latin typeface="Arial"/>
              <a:ea typeface="Arial"/>
              <a:cs typeface="Arial"/>
              <a:sym typeface="Arial"/>
            </a:endParaRPr>
          </a:p>
        </p:txBody>
      </p:sp>
      <p:sp>
        <p:nvSpPr>
          <p:cNvPr id="55" name="Google Shape;55;g33924203ca447d27_58"/>
          <p:cNvSpPr txBox="1"/>
          <p:nvPr/>
        </p:nvSpPr>
        <p:spPr>
          <a:xfrm>
            <a:off x="1005213" y="1866550"/>
            <a:ext cx="9170700" cy="1169521"/>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US" sz="2800" b="0" i="0" u="none" strike="noStrike" cap="none" dirty="0">
                <a:solidFill>
                  <a:schemeClr val="dk1"/>
                </a:solidFill>
                <a:latin typeface="Calibri"/>
                <a:ea typeface="Calibri"/>
                <a:cs typeface="Calibri"/>
                <a:sym typeface="Calibri"/>
              </a:rPr>
              <a:t>Presented by:</a:t>
            </a:r>
            <a:endParaRPr sz="28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600"/>
              <a:buFont typeface="Arial"/>
              <a:buNone/>
            </a:pPr>
            <a:endParaRPr sz="3600" b="0" i="0" u="none" strike="noStrike" cap="none" dirty="0">
              <a:solidFill>
                <a:schemeClr val="dk1"/>
              </a:solidFill>
              <a:latin typeface="Calibri"/>
              <a:ea typeface="Calibri"/>
              <a:cs typeface="Calibri"/>
              <a:sym typeface="Calibri"/>
            </a:endParaRPr>
          </a:p>
        </p:txBody>
      </p:sp>
      <p:sp>
        <p:nvSpPr>
          <p:cNvPr id="56" name="Google Shape;56;g33924203ca447d27_58"/>
          <p:cNvSpPr txBox="1"/>
          <p:nvPr/>
        </p:nvSpPr>
        <p:spPr>
          <a:xfrm>
            <a:off x="3002399" y="2290700"/>
            <a:ext cx="3139200" cy="1647000"/>
          </a:xfrm>
          <a:prstGeom prst="rect">
            <a:avLst/>
          </a:prstGeom>
          <a:noFill/>
          <a:ln>
            <a:noFill/>
          </a:ln>
        </p:spPr>
        <p:txBody>
          <a:bodyPr spcFirstLastPara="1" wrap="square" lIns="91425" tIns="91425" rIns="91425" bIns="91425" anchor="t" anchorCtr="0">
            <a:spAutoFit/>
          </a:bodyPr>
          <a:lstStyle/>
          <a:p>
            <a:pPr marL="457200" marR="0" lvl="0" indent="-381000" algn="just"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Soham Gawas</a:t>
            </a:r>
            <a:endParaRPr sz="2400" b="0" i="0" u="none" strike="noStrike" cap="none">
              <a:solidFill>
                <a:schemeClr val="dk1"/>
              </a:solidFill>
              <a:latin typeface="Calibri"/>
              <a:ea typeface="Calibri"/>
              <a:cs typeface="Calibri"/>
              <a:sym typeface="Calibri"/>
            </a:endParaRPr>
          </a:p>
          <a:p>
            <a:pPr marL="457200" marR="0" lvl="0" indent="-381000" algn="just"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Mahesh Gawali</a:t>
            </a:r>
            <a:endParaRPr sz="2400" b="0" i="0" u="none" strike="noStrike" cap="none">
              <a:solidFill>
                <a:schemeClr val="dk1"/>
              </a:solidFill>
              <a:latin typeface="Calibri"/>
              <a:ea typeface="Calibri"/>
              <a:cs typeface="Calibri"/>
              <a:sym typeface="Calibri"/>
            </a:endParaRPr>
          </a:p>
          <a:p>
            <a:pPr marL="457200" marR="0" lvl="0" indent="-381000" algn="just"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Bhargav Ghawali</a:t>
            </a:r>
            <a:endParaRPr sz="2400" b="0" i="0" u="none" strike="noStrike" cap="none">
              <a:solidFill>
                <a:schemeClr val="dk1"/>
              </a:solidFill>
              <a:latin typeface="Calibri"/>
              <a:ea typeface="Calibri"/>
              <a:cs typeface="Calibri"/>
              <a:sym typeface="Calibri"/>
            </a:endParaRPr>
          </a:p>
          <a:p>
            <a:pPr marL="457200" marR="0" lvl="0" indent="-381000" algn="just" rtl="0">
              <a:lnSpc>
                <a:spcPct val="100000"/>
              </a:lnSpc>
              <a:spcBef>
                <a:spcPts val="0"/>
              </a:spcBef>
              <a:spcAft>
                <a:spcPts val="0"/>
              </a:spcAft>
              <a:buClr>
                <a:schemeClr val="dk1"/>
              </a:buClr>
              <a:buSzPts val="2400"/>
              <a:buFont typeface="Calibri"/>
              <a:buChar char="●"/>
            </a:pPr>
            <a:r>
              <a:rPr lang="en-US" sz="2400" b="0" i="0" u="none" strike="noStrike" cap="none">
                <a:solidFill>
                  <a:schemeClr val="dk1"/>
                </a:solidFill>
                <a:latin typeface="Calibri"/>
                <a:ea typeface="Calibri"/>
                <a:cs typeface="Calibri"/>
                <a:sym typeface="Calibri"/>
              </a:rPr>
              <a:t>Ayush Devadiga</a:t>
            </a:r>
            <a:endParaRPr sz="2400" b="0" i="0" u="none" strike="noStrike" cap="none">
              <a:solidFill>
                <a:schemeClr val="dk1"/>
              </a:solidFill>
              <a:latin typeface="Calibri"/>
              <a:ea typeface="Calibri"/>
              <a:cs typeface="Calibri"/>
              <a:sym typeface="Calibri"/>
            </a:endParaRPr>
          </a:p>
        </p:txBody>
      </p:sp>
      <p:sp>
        <p:nvSpPr>
          <p:cNvPr id="57" name="Google Shape;57;g33924203ca447d27_58"/>
          <p:cNvSpPr txBox="1"/>
          <p:nvPr/>
        </p:nvSpPr>
        <p:spPr>
          <a:xfrm>
            <a:off x="258916" y="4361850"/>
            <a:ext cx="9144000" cy="675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sng" strike="noStrike" cap="none">
                <a:solidFill>
                  <a:schemeClr val="dk1"/>
                </a:solidFill>
                <a:latin typeface="Calibri"/>
                <a:ea typeface="Calibri"/>
                <a:cs typeface="Calibri"/>
                <a:sym typeface="Calibri"/>
              </a:rPr>
              <a:t>T.E(COMPUTER SCIENCE AND ENGINEERING (AI&amp;ML)</a:t>
            </a:r>
            <a:endParaRPr sz="3200" b="0" i="0" u="sng" strike="noStrike" cap="none">
              <a:solidFill>
                <a:schemeClr val="dk1"/>
              </a:solidFill>
              <a:latin typeface="Calibri"/>
              <a:ea typeface="Calibri"/>
              <a:cs typeface="Calibri"/>
              <a:sym typeface="Calibri"/>
            </a:endParaRPr>
          </a:p>
        </p:txBody>
      </p:sp>
      <p:sp>
        <p:nvSpPr>
          <p:cNvPr id="58" name="Google Shape;58;g33924203ca447d27_58"/>
          <p:cNvSpPr txBox="1"/>
          <p:nvPr/>
        </p:nvSpPr>
        <p:spPr>
          <a:xfrm>
            <a:off x="6315650" y="5037150"/>
            <a:ext cx="1826100" cy="675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sng" strike="noStrike" cap="none">
                <a:solidFill>
                  <a:schemeClr val="dk1"/>
                </a:solidFill>
                <a:latin typeface="Calibri"/>
                <a:ea typeface="Calibri"/>
                <a:cs typeface="Calibri"/>
                <a:sym typeface="Calibri"/>
              </a:rPr>
              <a:t>SEM - V</a:t>
            </a:r>
            <a:endParaRPr sz="3200" b="0" i="0" u="sng" strike="noStrike" cap="none">
              <a:solidFill>
                <a:schemeClr val="dk1"/>
              </a:solidFill>
              <a:latin typeface="Calibri"/>
              <a:ea typeface="Calibri"/>
              <a:cs typeface="Calibri"/>
              <a:sym typeface="Calibri"/>
            </a:endParaRPr>
          </a:p>
        </p:txBody>
      </p:sp>
      <p:sp>
        <p:nvSpPr>
          <p:cNvPr id="59" name="Google Shape;59;g33924203ca447d27_58"/>
          <p:cNvSpPr txBox="1"/>
          <p:nvPr/>
        </p:nvSpPr>
        <p:spPr>
          <a:xfrm>
            <a:off x="3002400" y="5712450"/>
            <a:ext cx="6070200" cy="675300"/>
          </a:xfrm>
          <a:prstGeom prst="rect">
            <a:avLst/>
          </a:prstGeom>
          <a:noFill/>
          <a:ln>
            <a:noFill/>
          </a:ln>
        </p:spPr>
        <p:txBody>
          <a:bodyPr spcFirstLastPara="1" wrap="square" lIns="91425" tIns="91425" rIns="91425" bIns="91425" anchor="t" anchorCtr="0">
            <a:spAutoFit/>
          </a:bodyPr>
          <a:lstStyle/>
          <a:p>
            <a:pPr marL="0" marR="0" lvl="0" indent="0" algn="just"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Calibri"/>
                <a:ea typeface="Calibri"/>
                <a:cs typeface="Calibri"/>
                <a:sym typeface="Calibri"/>
              </a:rPr>
              <a:t>Guided by : Prof. Yamuna Vasanth</a:t>
            </a:r>
            <a:endParaRPr sz="3200" b="0" i="0" u="none" strike="noStrike" cap="none">
              <a:solidFill>
                <a:schemeClr val="dk1"/>
              </a:solidFill>
              <a:latin typeface="Calibri"/>
              <a:ea typeface="Calibri"/>
              <a:cs typeface="Calibri"/>
              <a:sym typeface="Calibri"/>
            </a:endParaRPr>
          </a:p>
        </p:txBody>
      </p:sp>
      <p:pic>
        <p:nvPicPr>
          <p:cNvPr id="2" name="Picture 1">
            <a:extLst>
              <a:ext uri="{FF2B5EF4-FFF2-40B4-BE49-F238E27FC236}">
                <a16:creationId xmlns:a16="http://schemas.microsoft.com/office/drawing/2014/main" id="{07378138-CF3F-4CE5-ABA8-84176F59726C}"/>
              </a:ext>
            </a:extLst>
          </p:cNvPr>
          <p:cNvPicPr>
            <a:picLocks noChangeAspect="1"/>
          </p:cNvPicPr>
          <p:nvPr/>
        </p:nvPicPr>
        <p:blipFill>
          <a:blip r:embed="rId3"/>
          <a:stretch>
            <a:fillRect/>
          </a:stretch>
        </p:blipFill>
        <p:spPr>
          <a:xfrm>
            <a:off x="3925767" y="97381"/>
            <a:ext cx="1292464" cy="1164437"/>
          </a:xfrm>
          <a:prstGeom prst="rect">
            <a:avLst/>
          </a:prstGeom>
        </p:spPr>
      </p:pic>
    </p:spTree>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g33924203ca447d27_53"/>
          <p:cNvSpPr txBox="1">
            <a:spLocks noGrp="1"/>
          </p:cNvSpPr>
          <p:nvPr>
            <p:ph type="title" idx="4294967295"/>
          </p:nvPr>
        </p:nvSpPr>
        <p:spPr>
          <a:xfrm>
            <a:off x="0" y="14287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Contents</a:t>
            </a:r>
            <a:endParaRPr dirty="0"/>
          </a:p>
        </p:txBody>
      </p:sp>
      <p:sp>
        <p:nvSpPr>
          <p:cNvPr id="65" name="Google Shape;65;g33924203ca447d27_53"/>
          <p:cNvSpPr txBox="1"/>
          <p:nvPr/>
        </p:nvSpPr>
        <p:spPr>
          <a:xfrm>
            <a:off x="457200" y="893409"/>
            <a:ext cx="8016600" cy="5609400"/>
          </a:xfrm>
          <a:prstGeom prst="rect">
            <a:avLst/>
          </a:prstGeom>
          <a:noFill/>
          <a:ln>
            <a:noFill/>
          </a:ln>
        </p:spPr>
        <p:txBody>
          <a:bodyPr spcFirstLastPara="1" wrap="square" lIns="91425" tIns="45700" rIns="91425" bIns="45700" anchor="t" anchorCtr="0">
            <a:noAutofit/>
          </a:bodyPr>
          <a:lstStyle/>
          <a:p>
            <a:pPr marL="342900" marR="0" lvl="0" indent="-304800" algn="just" rtl="0">
              <a:lnSpc>
                <a:spcPct val="150000"/>
              </a:lnSpc>
              <a:spcBef>
                <a:spcPts val="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ABSTRACT</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AIM OF THE PROJECT</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INTRODUCTION</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LITERATURE SURVEY</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EXISTING SYSTEM (Next slide will be Disadvantage of existing system)</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PROPOSED SYSTEM (Next slide will be Advantage of proposed system)</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HARDWARE &amp; SOFTWARE REQUIREMENTS</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MODULES ( Mention how many modules)</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MODULES DESCRIPTION</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METHODOLOGY(What are all the algorithms used, concepts implemented)</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SYSTEM ARCHITECTURE</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FIGURES( UML diagrams, diagrams related to your project)</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CONCLUSION</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 FUTURE ENHANCEMENTS</a:t>
            </a:r>
            <a:endParaRPr sz="1200" b="0" i="0" u="none" strike="noStrike" cap="none" dirty="0">
              <a:solidFill>
                <a:schemeClr val="dk1"/>
              </a:solidFill>
              <a:latin typeface="Arial"/>
              <a:ea typeface="Arial"/>
              <a:cs typeface="Arial"/>
              <a:sym typeface="Arial"/>
            </a:endParaRPr>
          </a:p>
          <a:p>
            <a:pPr marL="342900" marR="0" lvl="0" indent="-304800" algn="just" rtl="0">
              <a:lnSpc>
                <a:spcPct val="150000"/>
              </a:lnSpc>
              <a:spcBef>
                <a:spcPts val="750"/>
              </a:spcBef>
              <a:spcAft>
                <a:spcPts val="0"/>
              </a:spcAft>
              <a:buClr>
                <a:schemeClr val="dk1"/>
              </a:buClr>
              <a:buSzPts val="1200"/>
              <a:buFont typeface="Arial"/>
              <a:buAutoNum type="arabicPeriod"/>
            </a:pPr>
            <a:r>
              <a:rPr lang="en-US" sz="1200" b="0" i="0" u="none" strike="noStrike" cap="none" dirty="0">
                <a:solidFill>
                  <a:schemeClr val="dk1"/>
                </a:solidFill>
                <a:latin typeface="Arial"/>
                <a:ea typeface="Arial"/>
                <a:cs typeface="Arial"/>
                <a:sym typeface="Arial"/>
              </a:rPr>
              <a:t> REFERENCES</a:t>
            </a:r>
            <a:endParaRPr sz="1200" b="0" i="0" u="none" strike="noStrike" cap="none" dirty="0">
              <a:solidFill>
                <a:schemeClr val="dk1"/>
              </a:solidFill>
              <a:latin typeface="Arial"/>
              <a:ea typeface="Arial"/>
              <a:cs typeface="Arial"/>
              <a:sym typeface="Arial"/>
            </a:endParaRPr>
          </a:p>
        </p:txBody>
      </p:sp>
    </p:spTree>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
          <p:cNvSpPr txBox="1"/>
          <p:nvPr/>
        </p:nvSpPr>
        <p:spPr>
          <a:xfrm>
            <a:off x="328020" y="965245"/>
            <a:ext cx="7678480" cy="544761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Many people spend hours learning new things, but much of that knowledge fades with time. This is a natural process known as the forgetting curve. Our project, Forgotten Knowledge Tracker (FKT), is designed to help users retain what they’ve learned by automatically detecting learning activity and estimating when it’s likely to be forgotten.</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The system quietly runs in the background, identifying learning patterns from apps, screen content, and activity. It then uses a memory model to predict when a topic needs review and reminds the user at the right time—without requiring manual input.</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FKT brings together memory science, AI, and user behavior tracking to make sure that important knowledge isn’t lost over time. It’s lightweight, offline-capable, privacy-friendly, and built to support long-term learning in a simple, effortless way.</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71" name="Google Shape;71;p1"/>
          <p:cNvSpPr txBox="1">
            <a:spLocks noGrp="1"/>
          </p:cNvSpPr>
          <p:nvPr>
            <p:ph type="title"/>
          </p:nvPr>
        </p:nvSpPr>
        <p:spPr>
          <a:xfrm>
            <a:off x="1231768" y="304845"/>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Abstract</a:t>
            </a:r>
            <a:endParaRPr dirty="0"/>
          </a:p>
        </p:txBody>
      </p:sp>
    </p:spTree>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2"/>
          <p:cNvSpPr txBox="1">
            <a:spLocks noGrp="1"/>
          </p:cNvSpPr>
          <p:nvPr>
            <p:ph type="title"/>
          </p:nvPr>
        </p:nvSpPr>
        <p:spPr>
          <a:xfrm>
            <a:off x="1285021" y="260808"/>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Aim of the Project</a:t>
            </a:r>
            <a:endParaRPr dirty="0"/>
          </a:p>
        </p:txBody>
      </p:sp>
      <p:sp>
        <p:nvSpPr>
          <p:cNvPr id="77" name="Google Shape;77;p2"/>
          <p:cNvSpPr txBox="1"/>
          <p:nvPr/>
        </p:nvSpPr>
        <p:spPr>
          <a:xfrm>
            <a:off x="309774" y="921208"/>
            <a:ext cx="7391926" cy="4090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build an AI-powered system that helps users retain the knowledge they gain over time</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automatically detect when a user is involved in learning activities using apps, screen content, or audio</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estimate when a learned topic is likely to be forgotten based on memory science</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provide timely and intelligent reminders for revision, without needing manual input</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support long-term knowledge retention through a system that is lightweight, offline-compatible, and privacy-focused</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To make the learning process more effective by turning passive study sessions into lasting memory</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3"/>
          <p:cNvSpPr txBox="1">
            <a:spLocks noGrp="1"/>
          </p:cNvSpPr>
          <p:nvPr>
            <p:ph type="title"/>
          </p:nvPr>
        </p:nvSpPr>
        <p:spPr>
          <a:xfrm>
            <a:off x="1398143" y="236686"/>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Introduction</a:t>
            </a:r>
            <a:endParaRPr dirty="0"/>
          </a:p>
        </p:txBody>
      </p:sp>
      <p:sp>
        <p:nvSpPr>
          <p:cNvPr id="4" name="Rectangle 3">
            <a:extLst>
              <a:ext uri="{FF2B5EF4-FFF2-40B4-BE49-F238E27FC236}">
                <a16:creationId xmlns:a16="http://schemas.microsoft.com/office/drawing/2014/main" id="{A01FC06C-1308-42D4-9853-CF0DE2441A0D}"/>
              </a:ext>
            </a:extLst>
          </p:cNvPr>
          <p:cNvSpPr>
            <a:spLocks noChangeArrowheads="1"/>
          </p:cNvSpPr>
          <p:nvPr/>
        </p:nvSpPr>
        <p:spPr bwMode="auto">
          <a:xfrm>
            <a:off x="395926" y="1443841"/>
            <a:ext cx="715494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b="1" dirty="0"/>
              <a:t>Forgotten Knowledge Tracker (FKT)</a:t>
            </a:r>
          </a:p>
          <a:p>
            <a:r>
              <a:rPr lang="en-US" b="1" dirty="0"/>
              <a:t>Retain What You Learn, Effortlessly:</a:t>
            </a:r>
          </a:p>
          <a:p>
            <a:endParaRPr lang="en-US" dirty="0"/>
          </a:p>
          <a:p>
            <a:pPr>
              <a:buFont typeface="Arial" panose="020B0604020202020204" pitchFamily="34" charset="0"/>
              <a:buChar char="•"/>
            </a:pPr>
            <a:r>
              <a:rPr lang="en-US" dirty="0"/>
              <a:t>Learning from videos, articles, PDFs, and coding is often forgotten over time.</a:t>
            </a:r>
          </a:p>
          <a:p>
            <a:pPr>
              <a:buFont typeface="Arial" panose="020B0604020202020204" pitchFamily="34" charset="0"/>
              <a:buChar char="•"/>
            </a:pPr>
            <a:r>
              <a:rPr lang="en-US" dirty="0"/>
              <a:t>FKT tracks learning in the background—no manual input needed.</a:t>
            </a:r>
          </a:p>
          <a:p>
            <a:pPr>
              <a:buFont typeface="Arial" panose="020B0604020202020204" pitchFamily="34" charset="0"/>
              <a:buChar char="•"/>
            </a:pPr>
            <a:r>
              <a:rPr lang="en-US" dirty="0"/>
              <a:t>Detects what you’re studying through screen activity and app usage.</a:t>
            </a:r>
          </a:p>
          <a:p>
            <a:pPr>
              <a:buFont typeface="Arial" panose="020B0604020202020204" pitchFamily="34" charset="0"/>
              <a:buChar char="•"/>
            </a:pPr>
            <a:r>
              <a:rPr lang="en-US" dirty="0"/>
              <a:t>Uses a memory model to predict when you’ll forget something.</a:t>
            </a:r>
          </a:p>
          <a:p>
            <a:pPr>
              <a:buFont typeface="Arial" panose="020B0604020202020204" pitchFamily="34" charset="0"/>
              <a:buChar char="•"/>
            </a:pPr>
            <a:r>
              <a:rPr lang="en-US" dirty="0"/>
              <a:t>Sends simple reminders at the right time to help you review.</a:t>
            </a:r>
          </a:p>
          <a:p>
            <a:pPr>
              <a:buFont typeface="Arial" panose="020B0604020202020204" pitchFamily="34" charset="0"/>
              <a:buChar char="•"/>
            </a:pPr>
            <a:r>
              <a:rPr lang="en-US" dirty="0"/>
              <a:t>Lightweight, works offline, and keeps your data private.</a:t>
            </a:r>
          </a:p>
          <a:p>
            <a:pPr>
              <a:buFont typeface="Arial" panose="020B0604020202020204" pitchFamily="34" charset="0"/>
              <a:buChar char="•"/>
            </a:pPr>
            <a:r>
              <a:rPr lang="en-US" dirty="0"/>
              <a:t>Combines AI and brain science to boost long-term memory—effortlessly.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4"/>
          <p:cNvSpPr txBox="1">
            <a:spLocks noGrp="1"/>
          </p:cNvSpPr>
          <p:nvPr>
            <p:ph type="title"/>
          </p:nvPr>
        </p:nvSpPr>
        <p:spPr>
          <a:xfrm>
            <a:off x="1398143" y="203199"/>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Literature Survey</a:t>
            </a:r>
            <a:endParaRPr dirty="0"/>
          </a:p>
        </p:txBody>
      </p:sp>
      <p:pic>
        <p:nvPicPr>
          <p:cNvPr id="89" name="Google Shape;89;p4"/>
          <p:cNvPicPr preferRelativeResize="0"/>
          <p:nvPr/>
        </p:nvPicPr>
        <p:blipFill>
          <a:blip r:embed="rId3">
            <a:alphaModFix/>
          </a:blip>
          <a:stretch>
            <a:fillRect/>
          </a:stretch>
        </p:blipFill>
        <p:spPr>
          <a:xfrm>
            <a:off x="395279" y="1373170"/>
            <a:ext cx="6731384" cy="4724401"/>
          </a:xfrm>
          <a:prstGeom prst="rect">
            <a:avLst/>
          </a:prstGeom>
          <a:noFill/>
          <a:ln>
            <a:noFill/>
          </a:ln>
        </p:spPr>
      </p:pic>
    </p:spTree>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5"/>
          <p:cNvSpPr txBox="1">
            <a:spLocks noGrp="1"/>
          </p:cNvSpPr>
          <p:nvPr>
            <p:ph type="title"/>
          </p:nvPr>
        </p:nvSpPr>
        <p:spPr>
          <a:xfrm>
            <a:off x="1398143" y="96851"/>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Existing System</a:t>
            </a:r>
            <a:endParaRPr dirty="0"/>
          </a:p>
        </p:txBody>
      </p:sp>
      <p:sp>
        <p:nvSpPr>
          <p:cNvPr id="7" name="Rectangle 6">
            <a:extLst>
              <a:ext uri="{FF2B5EF4-FFF2-40B4-BE49-F238E27FC236}">
                <a16:creationId xmlns:a16="http://schemas.microsoft.com/office/drawing/2014/main" id="{F431C935-F0E0-4647-A62D-119C50B43CE6}"/>
              </a:ext>
            </a:extLst>
          </p:cNvPr>
          <p:cNvSpPr>
            <a:spLocks noChangeArrowheads="1"/>
          </p:cNvSpPr>
          <p:nvPr/>
        </p:nvSpPr>
        <p:spPr bwMode="auto">
          <a:xfrm>
            <a:off x="376453" y="1067321"/>
            <a:ext cx="73694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Flashcard apps (e.g., Anki, </a:t>
            </a:r>
            <a:r>
              <a:rPr kumimoji="0" lang="en-US" altLang="en-US" sz="1800" b="0" i="0" u="none" strike="noStrike" cap="none" normalizeH="0" baseline="0" dirty="0" err="1">
                <a:ln>
                  <a:noFill/>
                </a:ln>
                <a:solidFill>
                  <a:schemeClr val="tx1"/>
                </a:solidFill>
                <a:effectLst/>
                <a:latin typeface="Arial" panose="020B0604020202020204" pitchFamily="34" charset="0"/>
              </a:rPr>
              <a:t>RemNote</a:t>
            </a:r>
            <a:r>
              <a:rPr kumimoji="0" lang="en-US" altLang="en-US" sz="1800" b="0" i="0" u="none" strike="noStrike" cap="none" normalizeH="0" baseline="0" dirty="0">
                <a:ln>
                  <a:noFill/>
                </a:ln>
                <a:solidFill>
                  <a:schemeClr val="tx1"/>
                </a:solidFill>
                <a:effectLst/>
                <a:latin typeface="Arial" panose="020B0604020202020204" pitchFamily="34" charset="0"/>
              </a:rPr>
              <a:t>) use spaced repetition but require manual input and organization.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Productivity tools (e.g., Forest, Notion, Pomodoro timers) help with focus and time but don’t track what you're learning.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Platforms like Coursera and Khan Academy personalize content but can’t track learning outside their own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tools work only within their own apps and don’t monitor learning across different platforms.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 existing system predicts forgetting or gives reminders based on memory decay.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7"/>
          <p:cNvSpPr txBox="1">
            <a:spLocks noGrp="1"/>
          </p:cNvSpPr>
          <p:nvPr>
            <p:ph type="title"/>
          </p:nvPr>
        </p:nvSpPr>
        <p:spPr>
          <a:xfrm>
            <a:off x="1398143" y="128833"/>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Proposed System</a:t>
            </a:r>
            <a:endParaRPr dirty="0"/>
          </a:p>
        </p:txBody>
      </p:sp>
      <p:sp>
        <p:nvSpPr>
          <p:cNvPr id="2" name="Rectangle 1">
            <a:extLst>
              <a:ext uri="{FF2B5EF4-FFF2-40B4-BE49-F238E27FC236}">
                <a16:creationId xmlns:a16="http://schemas.microsoft.com/office/drawing/2014/main" id="{5FE3ED86-A797-4E0F-B4A2-1339BE35443E}"/>
              </a:ext>
            </a:extLst>
          </p:cNvPr>
          <p:cNvSpPr>
            <a:spLocks noChangeArrowheads="1"/>
          </p:cNvSpPr>
          <p:nvPr/>
        </p:nvSpPr>
        <p:spPr bwMode="auto">
          <a:xfrm>
            <a:off x="471340" y="1298392"/>
            <a:ext cx="7173797"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Runs silently in the background to detect learning activities automatically.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Tracks app usage, screen content, and behavior to identify educational activity.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a basic memory model to estimate when forgetting might occur.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Sends timely reminders or review prompts before memory fades—no manual input needed.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Works fully offline and keeps all personal data on the device.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all types of learning, including videos, PDFs, and more.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Makes revision feel effortless and natural.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8"/>
          <p:cNvSpPr txBox="1">
            <a:spLocks noGrp="1"/>
          </p:cNvSpPr>
          <p:nvPr>
            <p:ph type="title"/>
          </p:nvPr>
        </p:nvSpPr>
        <p:spPr>
          <a:xfrm>
            <a:off x="1332155" y="190221"/>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Comparison of Previous and  Proposed System</a:t>
            </a:r>
            <a:endParaRPr dirty="0"/>
          </a:p>
        </p:txBody>
      </p:sp>
      <p:sp>
        <p:nvSpPr>
          <p:cNvPr id="114" name="Google Shape;114;p8"/>
          <p:cNvSpPr txBox="1"/>
          <p:nvPr/>
        </p:nvSpPr>
        <p:spPr>
          <a:xfrm>
            <a:off x="0" y="2895600"/>
            <a:ext cx="9144000" cy="675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2" name="Rectangle 1">
            <a:extLst>
              <a:ext uri="{FF2B5EF4-FFF2-40B4-BE49-F238E27FC236}">
                <a16:creationId xmlns:a16="http://schemas.microsoft.com/office/drawing/2014/main" id="{656BCF8B-D677-4645-9C22-F42B7B789ADC}"/>
              </a:ext>
            </a:extLst>
          </p:cNvPr>
          <p:cNvSpPr>
            <a:spLocks noChangeArrowheads="1"/>
          </p:cNvSpPr>
          <p:nvPr/>
        </p:nvSpPr>
        <p:spPr bwMode="auto">
          <a:xfrm rot="10800000" flipV="1">
            <a:off x="245097" y="1447241"/>
            <a:ext cx="7805393"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Existing tools need manual input, while FKT works automatically in the background.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Most systems don’t detect real learning, but FKT recognizes learning as it happens.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They can’t identify topics, whereas FKT understands what you’re studying.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Memory decay is ignored by others, but FKT predicts forgetting and reminds you in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Cloud-based tools risk privacy, but FKT keeps all data safely offline.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Traditional tools don’t support self-paced learning, while FKT works with any format or style</a:t>
            </a:r>
          </a:p>
        </p:txBody>
      </p:sp>
    </p:spTree>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9"/>
          <p:cNvSpPr txBox="1">
            <a:spLocks noGrp="1"/>
          </p:cNvSpPr>
          <p:nvPr>
            <p:ph type="title"/>
          </p:nvPr>
        </p:nvSpPr>
        <p:spPr>
          <a:xfrm>
            <a:off x="334652" y="21247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Hardware &amp; Software Requirements</a:t>
            </a:r>
            <a:endParaRPr dirty="0"/>
          </a:p>
        </p:txBody>
      </p:sp>
      <p:sp>
        <p:nvSpPr>
          <p:cNvPr id="120" name="Google Shape;120;p9"/>
          <p:cNvSpPr txBox="1"/>
          <p:nvPr/>
        </p:nvSpPr>
        <p:spPr>
          <a:xfrm>
            <a:off x="742202" y="1092112"/>
            <a:ext cx="6997204" cy="295462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dirty="0">
                <a:solidFill>
                  <a:srgbClr val="000000"/>
                </a:solidFill>
                <a:latin typeface="Arial"/>
                <a:ea typeface="Arial"/>
                <a:cs typeface="Arial"/>
                <a:sym typeface="Arial"/>
              </a:rPr>
              <a:t>Hardware Requirements:</a:t>
            </a: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RAM: 4 GB minimum, 8–16 GB recommended for heavier processing</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CPU: Dual-core processor (basic), Quad-core or higher for faster performance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Storage: 500 MB to 2 GB depending on usage and model size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Operating System: Windows, Linux, or macOS</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Optional: Microphone for capturing audio </a:t>
            </a:r>
            <a:r>
              <a:rPr lang="en-US" sz="1800" b="0" i="0" u="none" strike="noStrike" cap="none" dirty="0" err="1">
                <a:solidFill>
                  <a:srgbClr val="000000"/>
                </a:solidFill>
                <a:latin typeface="Arial"/>
                <a:ea typeface="Arial"/>
                <a:cs typeface="Arial"/>
                <a:sym typeface="Arial"/>
              </a:rPr>
              <a:t>contex</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p:txBody>
      </p:sp>
      <p:sp>
        <p:nvSpPr>
          <p:cNvPr id="121" name="Google Shape;121;p9"/>
          <p:cNvSpPr txBox="1"/>
          <p:nvPr/>
        </p:nvSpPr>
        <p:spPr>
          <a:xfrm>
            <a:off x="742202" y="3783374"/>
            <a:ext cx="5800000" cy="267762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sng" strike="noStrike" cap="none" dirty="0">
                <a:solidFill>
                  <a:srgbClr val="000000"/>
                </a:solidFill>
                <a:latin typeface="Arial"/>
                <a:ea typeface="Arial"/>
                <a:cs typeface="Arial"/>
                <a:sym typeface="Arial"/>
              </a:rPr>
              <a:t>Software Requirements</a:t>
            </a:r>
            <a:endParaRPr sz="1800" b="0" i="0" u="sng"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Python 3.10 or above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Key Libraries: Flask, scikit-learn, transformers, sentence-transformers, matplotlib, sqlite3</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Frontend: Basic HTML, CSS, and JavaScript for dashboard interface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Optional Libraries: speech\_recognition (for voice input)</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10"/>
          <p:cNvSpPr txBox="1">
            <a:spLocks noGrp="1"/>
          </p:cNvSpPr>
          <p:nvPr>
            <p:ph type="title"/>
          </p:nvPr>
        </p:nvSpPr>
        <p:spPr>
          <a:xfrm>
            <a:off x="1398143" y="96848"/>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600" b="1" dirty="0"/>
              <a:t>Modules</a:t>
            </a:r>
            <a:endParaRPr sz="3600" dirty="0"/>
          </a:p>
        </p:txBody>
      </p:sp>
      <p:sp>
        <p:nvSpPr>
          <p:cNvPr id="127" name="Google Shape;127;p10"/>
          <p:cNvSpPr txBox="1"/>
          <p:nvPr/>
        </p:nvSpPr>
        <p:spPr>
          <a:xfrm>
            <a:off x="400639" y="1115990"/>
            <a:ext cx="6961695" cy="5447615"/>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1. </a:t>
            </a:r>
            <a:r>
              <a:rPr lang="en-US" sz="1800" b="1" i="0" u="none" strike="noStrike" cap="none" dirty="0">
                <a:solidFill>
                  <a:srgbClr val="000000"/>
                </a:solidFill>
                <a:latin typeface="Arial"/>
                <a:ea typeface="Arial"/>
                <a:cs typeface="Arial"/>
                <a:sym typeface="Arial"/>
              </a:rPr>
              <a:t>Activity Monitoring Module</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Tracks user interactions with apps and screens to detect learning behavior.</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2. </a:t>
            </a:r>
            <a:r>
              <a:rPr lang="en-US" sz="1800" b="1" i="0" u="none" strike="noStrike" cap="none" dirty="0">
                <a:solidFill>
                  <a:srgbClr val="000000"/>
                </a:solidFill>
                <a:latin typeface="Arial"/>
                <a:ea typeface="Arial"/>
                <a:cs typeface="Arial"/>
                <a:sym typeface="Arial"/>
              </a:rPr>
              <a:t>Intent &amp; Content Analysis Module</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Determines whether the activity is educational and identifies the topic.</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3. </a:t>
            </a:r>
            <a:r>
              <a:rPr lang="en-US" sz="1800" b="1" i="0" u="none" strike="noStrike" cap="none" dirty="0">
                <a:solidFill>
                  <a:srgbClr val="000000"/>
                </a:solidFill>
                <a:latin typeface="Arial"/>
                <a:ea typeface="Arial"/>
                <a:cs typeface="Arial"/>
                <a:sym typeface="Arial"/>
              </a:rPr>
              <a:t>Forgetfulness Estimation Module</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Uses memory decay logic to predict when a topic is likely to be forgotten.</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4</a:t>
            </a:r>
            <a:r>
              <a:rPr lang="en-US" sz="1800" b="1" i="0" u="none" strike="noStrike" cap="none" dirty="0">
                <a:solidFill>
                  <a:srgbClr val="000000"/>
                </a:solidFill>
                <a:latin typeface="Arial"/>
                <a:ea typeface="Arial"/>
                <a:cs typeface="Arial"/>
                <a:sym typeface="Arial"/>
              </a:rPr>
              <a:t>. Reminder System Module</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Triggers timely notifications or review prompts based on memory strength.</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5. </a:t>
            </a:r>
            <a:r>
              <a:rPr lang="en-US" sz="1800" b="1" i="0" u="none" strike="noStrike" cap="none" dirty="0">
                <a:solidFill>
                  <a:srgbClr val="000000"/>
                </a:solidFill>
                <a:latin typeface="Arial"/>
                <a:ea typeface="Arial"/>
                <a:cs typeface="Arial"/>
                <a:sym typeface="Arial"/>
              </a:rPr>
              <a:t>Dashboard Module</a:t>
            </a:r>
            <a:endParaRPr sz="18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Provides a simple interface to review learning history, upcoming reminders, and topic trends.</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1"/>
          <p:cNvSpPr txBox="1">
            <a:spLocks noGrp="1"/>
          </p:cNvSpPr>
          <p:nvPr>
            <p:ph type="title"/>
          </p:nvPr>
        </p:nvSpPr>
        <p:spPr>
          <a:xfrm>
            <a:off x="1398143" y="276721"/>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Module Description</a:t>
            </a:r>
            <a:endParaRPr dirty="0"/>
          </a:p>
        </p:txBody>
      </p:sp>
      <p:sp>
        <p:nvSpPr>
          <p:cNvPr id="133" name="Google Shape;133;p11"/>
          <p:cNvSpPr txBox="1"/>
          <p:nvPr/>
        </p:nvSpPr>
        <p:spPr>
          <a:xfrm>
            <a:off x="685800" y="1597521"/>
            <a:ext cx="6723668" cy="254424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1. Activity Monitoring: Tracks app usage and screen data.</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2. Content &amp; Intent Detection: Identifies learning activities.</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3. Forgetfulness Estimator: Uses cognitive models to estimate memory decay.</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4. Reminder Engine: Notifies user for revision based on priority.</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800"/>
              <a:buFont typeface="Arial"/>
              <a:buNone/>
            </a:pPr>
            <a:r>
              <a:rPr lang="en-US" sz="1800" b="0" i="0" u="none" strike="noStrike" cap="none" dirty="0">
                <a:solidFill>
                  <a:schemeClr val="dk1"/>
                </a:solidFill>
                <a:latin typeface="Arial"/>
                <a:ea typeface="Arial"/>
                <a:cs typeface="Arial"/>
                <a:sym typeface="Arial"/>
              </a:rPr>
              <a:t>5. Dashboard: Presents review history and learning stats visually.</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2"/>
          <p:cNvSpPr txBox="1">
            <a:spLocks noGrp="1"/>
          </p:cNvSpPr>
          <p:nvPr>
            <p:ph type="title"/>
          </p:nvPr>
        </p:nvSpPr>
        <p:spPr>
          <a:xfrm>
            <a:off x="1398143" y="109980"/>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Methodology</a:t>
            </a:r>
            <a:endParaRPr dirty="0"/>
          </a:p>
        </p:txBody>
      </p:sp>
      <p:sp>
        <p:nvSpPr>
          <p:cNvPr id="139" name="Google Shape;139;p12"/>
          <p:cNvSpPr txBox="1"/>
          <p:nvPr/>
        </p:nvSpPr>
        <p:spPr>
          <a:xfrm>
            <a:off x="457200" y="1176256"/>
            <a:ext cx="7112524" cy="4062620"/>
          </a:xfrm>
          <a:prstGeom prst="rect">
            <a:avLst/>
          </a:prstGeom>
          <a:noFill/>
          <a:ln>
            <a:noFill/>
          </a:ln>
        </p:spPr>
        <p:txBody>
          <a:bodyPr spcFirstLastPara="1" wrap="square" lIns="91425" tIns="91425" rIns="91425" bIns="91425" anchor="t" anchorCtr="0">
            <a:spAutoFit/>
          </a:bodyPr>
          <a:lstStyle/>
          <a:p>
            <a:r>
              <a:rPr lang="en-US" b="1" dirty="0">
                <a:latin typeface="Arial" panose="020B0604020202020204" pitchFamily="34" charset="0"/>
                <a:cs typeface="Arial" panose="020B0604020202020204" pitchFamily="34" charset="0"/>
              </a:rPr>
              <a:t>How FKT Works:</a:t>
            </a:r>
          </a:p>
          <a:p>
            <a:endParaRPr lang="en-US" b="1" dirty="0">
              <a:latin typeface="Arial" panose="020B0604020202020204" pitchFamily="34" charset="0"/>
              <a:cs typeface="Arial" panose="020B0604020202020204" pitchFamily="34" charset="0"/>
            </a:endParaRPr>
          </a:p>
          <a:p>
            <a:pPr>
              <a:buFont typeface="Arial" panose="020B0604020202020204" pitchFamily="34" charset="0"/>
              <a:buChar char="•"/>
            </a:pPr>
            <a:r>
              <a:rPr lang="en-US" dirty="0">
                <a:latin typeface="Arial" panose="020B0604020202020204" pitchFamily="34" charset="0"/>
                <a:cs typeface="Arial" panose="020B0604020202020204" pitchFamily="34" charset="0"/>
              </a:rPr>
              <a:t>Combines simple machine learning with proven memory science.</a:t>
            </a:r>
          </a:p>
          <a:p>
            <a:pPr>
              <a:buFont typeface="Arial" panose="020B0604020202020204" pitchFamily="34" charset="0"/>
              <a:buChar char="•"/>
            </a:pPr>
            <a:r>
              <a:rPr lang="en-US" dirty="0">
                <a:latin typeface="Arial" panose="020B0604020202020204" pitchFamily="34" charset="0"/>
                <a:cs typeface="Arial" panose="020B0604020202020204" pitchFamily="34" charset="0"/>
              </a:rPr>
              <a:t>Monitors user activity (like app usage, screen text, and optional ambient audio) to detect learning moments.</a:t>
            </a:r>
          </a:p>
          <a:p>
            <a:pPr>
              <a:buFont typeface="Arial" panose="020B0604020202020204" pitchFamily="34" charset="0"/>
              <a:buChar char="•"/>
            </a:pPr>
            <a:r>
              <a:rPr lang="en-US" dirty="0">
                <a:latin typeface="Arial" panose="020B0604020202020204" pitchFamily="34" charset="0"/>
                <a:cs typeface="Arial" panose="020B0604020202020204" pitchFamily="34" charset="0"/>
              </a:rPr>
              <a:t>Classifies whether the activity is educational and identifies the topic.</a:t>
            </a:r>
          </a:p>
          <a:p>
            <a:pPr>
              <a:buFont typeface="Arial" panose="020B0604020202020204" pitchFamily="34" charset="0"/>
              <a:buChar char="•"/>
            </a:pPr>
            <a:r>
              <a:rPr lang="en-US" dirty="0">
                <a:latin typeface="Arial" panose="020B0604020202020204" pitchFamily="34" charset="0"/>
                <a:cs typeface="Arial" panose="020B0604020202020204" pitchFamily="34" charset="0"/>
              </a:rPr>
              <a:t>Uses a memory decay model based on the Ebbinghaus Forgetting Curve to estimate when knowledge will fade.</a:t>
            </a:r>
          </a:p>
          <a:p>
            <a:pPr>
              <a:buFont typeface="Arial" panose="020B0604020202020204" pitchFamily="34" charset="0"/>
              <a:buChar char="•"/>
            </a:pPr>
            <a:r>
              <a:rPr lang="en-US" dirty="0">
                <a:latin typeface="Arial" panose="020B0604020202020204" pitchFamily="34" charset="0"/>
                <a:cs typeface="Arial" panose="020B0604020202020204" pitchFamily="34" charset="0"/>
              </a:rPr>
              <a:t>Schedules timely reminders or review prompts before forgetting happens.</a:t>
            </a:r>
          </a:p>
          <a:p>
            <a:pPr>
              <a:buFont typeface="Arial" panose="020B0604020202020204" pitchFamily="34" charset="0"/>
              <a:buChar char="•"/>
            </a:pPr>
            <a:r>
              <a:rPr lang="en-US" dirty="0">
                <a:latin typeface="Arial" panose="020B0604020202020204" pitchFamily="34" charset="0"/>
                <a:cs typeface="Arial" panose="020B0604020202020204" pitchFamily="34" charset="0"/>
              </a:rPr>
              <a:t>Runs entirely on the device—keeping your data private and the system lightweight.</a:t>
            </a:r>
          </a:p>
          <a:p>
            <a:pPr>
              <a:buFont typeface="Arial" panose="020B0604020202020204" pitchFamily="34" charset="0"/>
              <a:buChar char="•"/>
            </a:pPr>
            <a:r>
              <a:rPr lang="en-US" dirty="0">
                <a:latin typeface="Arial" panose="020B0604020202020204" pitchFamily="34" charset="0"/>
                <a:cs typeface="Arial" panose="020B0604020202020204" pitchFamily="34" charset="0"/>
              </a:rPr>
              <a:t>Delivers smart, just-in-time support to help learning stick.</a:t>
            </a:r>
          </a:p>
        </p:txBody>
      </p:sp>
    </p:spTree>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209AD9-6268-4836-802C-C1FAB795110E}"/>
              </a:ext>
            </a:extLst>
          </p:cNvPr>
          <p:cNvPicPr>
            <a:picLocks noChangeAspect="1"/>
          </p:cNvPicPr>
          <p:nvPr/>
        </p:nvPicPr>
        <p:blipFill>
          <a:blip r:embed="rId2"/>
          <a:stretch>
            <a:fillRect/>
          </a:stretch>
        </p:blipFill>
        <p:spPr>
          <a:xfrm>
            <a:off x="636061" y="356556"/>
            <a:ext cx="6452895" cy="5795656"/>
          </a:xfrm>
          <a:prstGeom prst="rect">
            <a:avLst/>
          </a:prstGeom>
        </p:spPr>
      </p:pic>
    </p:spTree>
    <p:extLst>
      <p:ext uri="{BB962C8B-B14F-4D97-AF65-F5344CB8AC3E}">
        <p14:creationId xmlns:p14="http://schemas.microsoft.com/office/powerpoint/2010/main" val="3075654255"/>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3"/>
          <p:cNvSpPr txBox="1">
            <a:spLocks noGrp="1"/>
          </p:cNvSpPr>
          <p:nvPr>
            <p:ph type="title"/>
          </p:nvPr>
        </p:nvSpPr>
        <p:spPr>
          <a:xfrm>
            <a:off x="1398143" y="270235"/>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System Architecture</a:t>
            </a:r>
            <a:endParaRPr dirty="0"/>
          </a:p>
        </p:txBody>
      </p:sp>
      <p:sp>
        <p:nvSpPr>
          <p:cNvPr id="145" name="Google Shape;145;p13"/>
          <p:cNvSpPr txBox="1"/>
          <p:nvPr/>
        </p:nvSpPr>
        <p:spPr>
          <a:xfrm>
            <a:off x="600174" y="1397690"/>
            <a:ext cx="6545344" cy="406262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rgbClr val="000000"/>
                </a:solidFill>
                <a:latin typeface="Arial"/>
                <a:ea typeface="Arial"/>
                <a:cs typeface="Arial"/>
                <a:sym typeface="Arial"/>
              </a:rPr>
              <a:t>Workflow overview</a:t>
            </a:r>
            <a:r>
              <a:rPr lang="en-US" sz="1800" b="0" i="0" u="none" strike="noStrike" cap="none" dirty="0">
                <a:solidFill>
                  <a:srgbClr val="000000"/>
                </a:solidFill>
                <a:latin typeface="Arial"/>
                <a:ea typeface="Arial"/>
                <a:cs typeface="Arial"/>
                <a:sym typeface="Arial"/>
              </a:rPr>
              <a:t>:</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The system monitors activity, detects learning, predicts forgetfulness, sends reminders, and shows progress through a dashboard.</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Activity monitoring</a:t>
            </a:r>
            <a:r>
              <a:rPr lang="en-US" sz="1800" b="0" i="0" u="none" strike="noStrike" cap="none" dirty="0">
                <a:solidFill>
                  <a:srgbClr val="000000"/>
                </a:solidFill>
                <a:latin typeface="Arial"/>
                <a:ea typeface="Arial"/>
                <a:cs typeface="Arial"/>
                <a:sym typeface="Arial"/>
              </a:rPr>
              <a:t>: tracks app usage, screen content, and optional audio</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Intent detection</a:t>
            </a:r>
            <a:r>
              <a:rPr lang="en-US" sz="1800" b="0" i="0" u="none" strike="noStrike" cap="none" dirty="0">
                <a:solidFill>
                  <a:srgbClr val="000000"/>
                </a:solidFill>
                <a:latin typeface="Arial"/>
                <a:ea typeface="Arial"/>
                <a:cs typeface="Arial"/>
                <a:sym typeface="Arial"/>
              </a:rPr>
              <a:t>: checks if the activity is educational and extracts topic</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Forgetfulness estimation</a:t>
            </a:r>
            <a:r>
              <a:rPr lang="en-US" sz="1800" b="0" i="0" u="none" strike="noStrike" cap="none" dirty="0">
                <a:solidFill>
                  <a:srgbClr val="000000"/>
                </a:solidFill>
                <a:latin typeface="Arial"/>
                <a:ea typeface="Arial"/>
                <a:cs typeface="Arial"/>
                <a:sym typeface="Arial"/>
              </a:rPr>
              <a:t>: predicts when topics may be forgotten</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Reminder system</a:t>
            </a:r>
            <a:r>
              <a:rPr lang="en-US" sz="1800" b="0" i="0" u="none" strike="noStrike" cap="none" dirty="0">
                <a:solidFill>
                  <a:srgbClr val="000000"/>
                </a:solidFill>
                <a:latin typeface="Arial"/>
                <a:ea typeface="Arial"/>
                <a:cs typeface="Arial"/>
                <a:sym typeface="Arial"/>
              </a:rPr>
              <a:t>: triggers review alerts at the right time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Local storage:</a:t>
            </a:r>
            <a:r>
              <a:rPr lang="en-US" sz="1800" b="0" i="0" u="none" strike="noStrike" cap="none" dirty="0">
                <a:solidFill>
                  <a:srgbClr val="000000"/>
                </a:solidFill>
                <a:latin typeface="Arial"/>
                <a:ea typeface="Arial"/>
                <a:cs typeface="Arial"/>
                <a:sym typeface="Arial"/>
              </a:rPr>
              <a:t> saves all data privately on the device</a:t>
            </a:r>
            <a:endParaRPr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Arial"/>
                <a:cs typeface="Arial"/>
                <a:sym typeface="Arial"/>
              </a:rPr>
              <a:t> </a:t>
            </a:r>
            <a:r>
              <a:rPr lang="en-US" sz="1800" b="0" i="0" u="sng" strike="noStrike" cap="none" dirty="0">
                <a:solidFill>
                  <a:srgbClr val="000000"/>
                </a:solidFill>
                <a:latin typeface="Arial"/>
                <a:ea typeface="Arial"/>
                <a:cs typeface="Arial"/>
                <a:sym typeface="Arial"/>
              </a:rPr>
              <a:t>Dashboard</a:t>
            </a:r>
            <a:r>
              <a:rPr lang="en-US" sz="1800" b="0" i="0" u="none" strike="noStrike" cap="none" dirty="0">
                <a:solidFill>
                  <a:srgbClr val="000000"/>
                </a:solidFill>
                <a:latin typeface="Arial"/>
                <a:ea typeface="Arial"/>
                <a:cs typeface="Arial"/>
                <a:sym typeface="Arial"/>
              </a:rPr>
              <a:t>: shows learning history and upcoming </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5"/>
          <p:cNvSpPr txBox="1">
            <a:spLocks noGrp="1"/>
          </p:cNvSpPr>
          <p:nvPr>
            <p:ph type="title"/>
          </p:nvPr>
        </p:nvSpPr>
        <p:spPr>
          <a:xfrm>
            <a:off x="940948" y="119406"/>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Conclusion</a:t>
            </a:r>
            <a:endParaRPr dirty="0"/>
          </a:p>
        </p:txBody>
      </p:sp>
      <p:sp>
        <p:nvSpPr>
          <p:cNvPr id="159" name="Google Shape;159;p15"/>
          <p:cNvSpPr txBox="1"/>
          <p:nvPr/>
        </p:nvSpPr>
        <p:spPr>
          <a:xfrm>
            <a:off x="362937" y="1627438"/>
            <a:ext cx="7315200" cy="2821245"/>
          </a:xfrm>
          <a:prstGeom prst="rect">
            <a:avLst/>
          </a:prstGeom>
          <a:noFill/>
          <a:ln>
            <a:noFill/>
          </a:ln>
        </p:spPr>
        <p:txBody>
          <a:bodyPr spcFirstLastPara="1" wrap="square" lIns="91425" tIns="45700" rIns="91425" bIns="45700" anchor="t" anchorCtr="0">
            <a:spAutoFit/>
          </a:bodyPr>
          <a:lstStyle/>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The Forgotten Knowledge Tracker helps users retain valuable knowledge effortlessly.</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rgbClr val="000000"/>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It uses AI to detect what is learned and predicts when it may be forgotten.</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rgbClr val="000000"/>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This ensures that important topics are revised at the right time.</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rgbClr val="000000"/>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It bridges the gap between human memory and machine intelligence.</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1000"/>
              </a:spcBef>
              <a:spcAft>
                <a:spcPts val="0"/>
              </a:spcAft>
              <a:buClr>
                <a:srgbClr val="000000"/>
              </a:buClr>
              <a:buSzPts val="1800"/>
              <a:buFont typeface="Arial" panose="020B0604020202020204" pitchFamily="34" charset="0"/>
              <a:buChar char="•"/>
            </a:pPr>
            <a:r>
              <a:rPr lang="en-US" sz="1800" b="0" i="0" u="none" strike="noStrike" cap="none" dirty="0">
                <a:solidFill>
                  <a:schemeClr val="dk1"/>
                </a:solidFill>
                <a:latin typeface="Arial"/>
                <a:ea typeface="Arial"/>
                <a:cs typeface="Arial"/>
                <a:sym typeface="Arial"/>
              </a:rPr>
              <a:t>Lightweight, offline, and privacy-focused.</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6"/>
          <p:cNvSpPr txBox="1">
            <a:spLocks noGrp="1"/>
          </p:cNvSpPr>
          <p:nvPr>
            <p:ph type="title"/>
          </p:nvPr>
        </p:nvSpPr>
        <p:spPr>
          <a:xfrm>
            <a:off x="1398143" y="175968"/>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Future Enhancements</a:t>
            </a:r>
            <a:endParaRPr dirty="0"/>
          </a:p>
        </p:txBody>
      </p:sp>
      <p:sp>
        <p:nvSpPr>
          <p:cNvPr id="165" name="Google Shape;165;p16"/>
          <p:cNvSpPr txBox="1"/>
          <p:nvPr/>
        </p:nvSpPr>
        <p:spPr>
          <a:xfrm>
            <a:off x="457200" y="1417650"/>
            <a:ext cx="7116000" cy="3508623"/>
          </a:xfrm>
          <a:prstGeom prst="rect">
            <a:avLst/>
          </a:prstGeom>
          <a:noFill/>
          <a:ln>
            <a:noFill/>
          </a:ln>
        </p:spPr>
        <p:txBody>
          <a:bodyPr spcFirstLastPara="1" wrap="square" lIns="91425" tIns="91425" rIns="91425" bIns="91425" anchor="t" anchorCtr="0">
            <a:spAutoFit/>
          </a:bodyPr>
          <a:lstStyle/>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Develop a mobile version to support on-the-go learning and reminders</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Add voice command support for hands-free interaction and topic tagging</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Implement adaptive memory modeling based on user performance</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Integrate visual summarization for quicker topic refresh</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Allow syncing across devices with end-to-end encryption</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Improve audio context detection for better intent recognition</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Introduce streaks or light gamification to increase engagement</a:t>
            </a:r>
            <a:endParaRPr sz="18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mj-lt"/>
              <a:buAutoNum type="arabicParenR"/>
            </a:pPr>
            <a:r>
              <a:rPr lang="en-US" sz="1800" b="0" i="0" u="none" strike="noStrike" cap="none" dirty="0">
                <a:solidFill>
                  <a:srgbClr val="000000"/>
                </a:solidFill>
                <a:latin typeface="Arial"/>
                <a:ea typeface="Arial"/>
                <a:cs typeface="Arial"/>
                <a:sym typeface="Arial"/>
              </a:rPr>
              <a:t> Support for language-based topic detection for regional learning content</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7"/>
          <p:cNvSpPr txBox="1">
            <a:spLocks noGrp="1"/>
          </p:cNvSpPr>
          <p:nvPr>
            <p:ph type="title"/>
          </p:nvPr>
        </p:nvSpPr>
        <p:spPr>
          <a:xfrm>
            <a:off x="1398143" y="175967"/>
            <a:ext cx="6347714" cy="1320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dirty="0"/>
              <a:t>References</a:t>
            </a:r>
            <a:endParaRPr dirty="0"/>
          </a:p>
        </p:txBody>
      </p:sp>
      <p:sp>
        <p:nvSpPr>
          <p:cNvPr id="171" name="Google Shape;171;p17"/>
          <p:cNvSpPr txBox="1"/>
          <p:nvPr/>
        </p:nvSpPr>
        <p:spPr>
          <a:xfrm>
            <a:off x="313442" y="1397690"/>
            <a:ext cx="7105454" cy="4062620"/>
          </a:xfrm>
          <a:prstGeom prst="rect">
            <a:avLst/>
          </a:prstGeom>
          <a:noFill/>
          <a:ln>
            <a:noFill/>
          </a:ln>
        </p:spPr>
        <p:txBody>
          <a:bodyPr spcFirstLastPara="1" wrap="square" lIns="91425" tIns="91425" rIns="91425" bIns="91425" anchor="t" anchorCtr="0">
            <a:spAutoFit/>
          </a:bodyPr>
          <a:lstStyle/>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Ebbinghaus, H. (1885). Memory: A contribution to experimental psychology</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Research on spaced repetition systems (Anki, </a:t>
            </a:r>
            <a:r>
              <a:rPr lang="en-US" sz="1800" b="0" i="0" u="none" strike="noStrike" cap="none" dirty="0" err="1">
                <a:solidFill>
                  <a:srgbClr val="000000"/>
                </a:solidFill>
                <a:latin typeface="Arial"/>
                <a:ea typeface="Arial"/>
                <a:cs typeface="Arial"/>
                <a:sym typeface="Arial"/>
              </a:rPr>
              <a:t>SuperMemo</a:t>
            </a:r>
            <a:r>
              <a:rPr lang="en-US" sz="1800" b="0" i="0" u="none" strike="noStrike" cap="none" dirty="0">
                <a:solidFill>
                  <a:srgbClr val="000000"/>
                </a:solidFill>
                <a:latin typeface="Arial"/>
                <a:ea typeface="Arial"/>
                <a:cs typeface="Arial"/>
                <a:sym typeface="Arial"/>
              </a:rPr>
              <a:t>, SM-2 and SM-18 models)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Bayesian Knowledge Tracing and Deep Knowledge Tracing in intelligent tutoring systems</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Multi-modal learning analytics for screen, app, and audio-based intent detection</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Local and privacy-focused AI model design in modern edge computing</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Python libraries used: scikit-learn, transformers, sentence-transformers, Flask, sqlite3</a:t>
            </a:r>
            <a:endParaRPr sz="1800" b="0" i="0" u="none" strike="noStrike" cap="none" dirty="0">
              <a:solidFill>
                <a:srgbClr val="000000"/>
              </a:solidFill>
              <a:latin typeface="Arial"/>
              <a:ea typeface="Arial"/>
              <a:cs typeface="Arial"/>
              <a:sym typeface="Arial"/>
            </a:endParaRPr>
          </a:p>
          <a:p>
            <a:pPr marL="285750" marR="0" lvl="0" indent="-285750" algn="l" rtl="0">
              <a:lnSpc>
                <a:spcPct val="100000"/>
              </a:lnSpc>
              <a:spcBef>
                <a:spcPts val="0"/>
              </a:spcBef>
              <a:spcAft>
                <a:spcPts val="0"/>
              </a:spcAft>
              <a:buClr>
                <a:srgbClr val="000000"/>
              </a:buClr>
              <a:buSzPts val="1800"/>
              <a:buFont typeface="Arial" panose="020B0604020202020204" pitchFamily="34" charset="0"/>
              <a:buChar char="•"/>
            </a:pPr>
            <a:r>
              <a:rPr lang="en-US" sz="1800" b="0" i="0" u="none" strike="noStrike" cap="none" dirty="0">
                <a:solidFill>
                  <a:srgbClr val="000000"/>
                </a:solidFill>
                <a:latin typeface="Arial"/>
                <a:ea typeface="Arial"/>
                <a:cs typeface="Arial"/>
                <a:sym typeface="Arial"/>
              </a:rPr>
              <a:t> Related studies on memory retention, cognitive load, and human forgetting behavior</a:t>
            </a:r>
            <a:endParaRPr sz="1800" b="0" i="0" u="none" strike="noStrike" cap="none" dirty="0">
              <a:solidFill>
                <a:srgbClr val="000000"/>
              </a:solidFill>
              <a:latin typeface="Arial"/>
              <a:ea typeface="Arial"/>
              <a:cs typeface="Arial"/>
              <a:sym typeface="Arial"/>
            </a:endParaRPr>
          </a:p>
        </p:txBody>
      </p:sp>
    </p:spTree>
  </p:cSld>
  <p:clrMapOvr>
    <a:masterClrMapping/>
  </p:clrMapOvr>
  <p:transition spd="slow">
    <p:cover/>
  </p:transition>
</p:sld>
</file>

<file path=ppt/theme/theme1.xml><?xml version="1.0" encoding="utf-8"?>
<a:theme xmlns:a="http://schemas.openxmlformats.org/drawingml/2006/main" name="Facet">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62</TotalTime>
  <Words>1439</Words>
  <Application>Microsoft Office PowerPoint</Application>
  <PresentationFormat>On-screen Show (4:3)</PresentationFormat>
  <Paragraphs>169</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Trebuchet MS</vt:lpstr>
      <vt:lpstr>Wingdings 3</vt:lpstr>
      <vt:lpstr>Facet</vt:lpstr>
      <vt:lpstr>PowerPoint Presentation</vt:lpstr>
      <vt:lpstr>Contents</vt:lpstr>
      <vt:lpstr>Abstract</vt:lpstr>
      <vt:lpstr>Aim of the Project</vt:lpstr>
      <vt:lpstr>Introduction</vt:lpstr>
      <vt:lpstr>Literature Survey</vt:lpstr>
      <vt:lpstr>Existing System</vt:lpstr>
      <vt:lpstr>Proposed System</vt:lpstr>
      <vt:lpstr>Comparison of Previous and  Proposed System</vt:lpstr>
      <vt:lpstr>Hardware &amp; Software Requirements</vt:lpstr>
      <vt:lpstr>Modules</vt:lpstr>
      <vt:lpstr>Module Description</vt:lpstr>
      <vt:lpstr>Methodology</vt:lpstr>
      <vt:lpstr>PowerPoint Presentation</vt:lpstr>
      <vt:lpstr>System Architecture</vt:lpstr>
      <vt:lpstr>Conclusion</vt:lpstr>
      <vt:lpstr>Future Enhancements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Aastha Devadiga</dc:creator>
  <cp:lastModifiedBy>Aastha</cp:lastModifiedBy>
  <cp:revision>5</cp:revision>
  <dcterms:modified xsi:type="dcterms:W3CDTF">2025-08-07T13:51:54Z</dcterms:modified>
</cp:coreProperties>
</file>